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5f8f5b1dde4139" /><Relationship Type="http://schemas.openxmlformats.org/officeDocument/2006/relationships/extended-properties" Target="/docProps/app.xml" Id="Rd0e444dd0b3d4b1d" /><Relationship Type="http://schemas.openxmlformats.org/officeDocument/2006/relationships/officeDocument" Target="/ppt/presentation.xml" Id="R32b868e9fd864e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705d797b4c4cb2"/>
    <p:sldMasterId xmlns:r="http://schemas.openxmlformats.org/officeDocument/2006/relationships" id="2147483650" r:id="R6fe940299e184acb"/>
  </p:sldMasterIdLst>
  <p:notesMasterIdLst>
    <p:notesMasterId xmlns:r="http://schemas.openxmlformats.org/officeDocument/2006/relationships" r:id="Rcff35718fab04765"/>
  </p:notesMasterIdLst>
  <p:sldIdLst>
    <p:sldId xmlns:r="http://schemas.openxmlformats.org/officeDocument/2006/relationships" id="256" r:id="R624cf3f79bf4402f"/>
    <p:sldId xmlns:r="http://schemas.openxmlformats.org/officeDocument/2006/relationships" id="257" r:id="R954fccc5e58a4aa8"/>
    <p:sldId xmlns:r="http://schemas.openxmlformats.org/officeDocument/2006/relationships" id="258" r:id="R6a573de368f34998"/>
    <p:sldId xmlns:r="http://schemas.openxmlformats.org/officeDocument/2006/relationships" id="259" r:id="R3130b2625eae4d15"/>
    <p:sldId xmlns:r="http://schemas.openxmlformats.org/officeDocument/2006/relationships" id="260" r:id="Rd07950a6815340e5"/>
    <p:sldId xmlns:r="http://schemas.openxmlformats.org/officeDocument/2006/relationships" id="261" r:id="R3001e9502d014d37"/>
    <p:sldId xmlns:r="http://schemas.openxmlformats.org/officeDocument/2006/relationships" id="262" r:id="Rf0debbf2dce14bbf"/>
    <p:sldId xmlns:r="http://schemas.openxmlformats.org/officeDocument/2006/relationships" id="263" r:id="Rc43699924c3d4131"/>
    <p:sldId xmlns:r="http://schemas.openxmlformats.org/officeDocument/2006/relationships" id="264" r:id="R327bfd862d2a48de"/>
    <p:sldId xmlns:r="http://schemas.openxmlformats.org/officeDocument/2006/relationships" id="265" r:id="R8f4871915bb443f6"/>
    <p:sldId xmlns:r="http://schemas.openxmlformats.org/officeDocument/2006/relationships" id="266" r:id="R12ae3bd75d0b49d3"/>
    <p:sldId xmlns:r="http://schemas.openxmlformats.org/officeDocument/2006/relationships" id="267" r:id="R702644c5fba44793"/>
    <p:sldId xmlns:r="http://schemas.openxmlformats.org/officeDocument/2006/relationships" id="268" r:id="R2a27d50168fc4df3"/>
    <p:sldId xmlns:r="http://schemas.openxmlformats.org/officeDocument/2006/relationships" id="269" r:id="R67eba0ca6e4c4d5a"/>
    <p:sldId xmlns:r="http://schemas.openxmlformats.org/officeDocument/2006/relationships" id="270" r:id="R76f990ed42394fb5"/>
    <p:sldId xmlns:r="http://schemas.openxmlformats.org/officeDocument/2006/relationships" id="271" r:id="R1d87bebd9af6453d"/>
    <p:sldId xmlns:r="http://schemas.openxmlformats.org/officeDocument/2006/relationships" id="272" r:id="R6e54b88589424ed4"/>
    <p:sldId xmlns:r="http://schemas.openxmlformats.org/officeDocument/2006/relationships" id="273" r:id="R1db36b7d0f2743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3166613a84a14" /><Relationship Type="http://schemas.openxmlformats.org/officeDocument/2006/relationships/slideMaster" Target="/ppt/slideMasters/slideMaster1.xml" Id="R55705d797b4c4cb2" /><Relationship Type="http://schemas.openxmlformats.org/officeDocument/2006/relationships/slideMaster" Target="/ppt/slideMasters/slideMaster2.xml" Id="R6fe940299e184acb" /><Relationship Type="http://schemas.openxmlformats.org/officeDocument/2006/relationships/notesMaster" Target="/ppt/notesMasters/notesMaster1.xml" Id="Rcff35718fab04765" /><Relationship Type="http://schemas.openxmlformats.org/officeDocument/2006/relationships/presProps" Target="/ppt/presProps.xml" Id="R1e735666da244900" /><Relationship Type="http://schemas.openxmlformats.org/officeDocument/2006/relationships/tableStyles" Target="/ppt/tableStyles.xml" Id="R12a5ad070d804c0b" /><Relationship Type="http://schemas.openxmlformats.org/officeDocument/2006/relationships/slide" Target="/ppt/slides/slide1.xml" Id="R624cf3f79bf4402f" /><Relationship Type="http://schemas.openxmlformats.org/officeDocument/2006/relationships/slide" Target="/ppt/slides/slide2.xml" Id="R954fccc5e58a4aa8" /><Relationship Type="http://schemas.openxmlformats.org/officeDocument/2006/relationships/slide" Target="/ppt/slides/slide3.xml" Id="R6a573de368f34998" /><Relationship Type="http://schemas.openxmlformats.org/officeDocument/2006/relationships/slide" Target="/ppt/slides/slide4.xml" Id="R3130b2625eae4d15" /><Relationship Type="http://schemas.openxmlformats.org/officeDocument/2006/relationships/slide" Target="/ppt/slides/slide5.xml" Id="Rd07950a6815340e5" /><Relationship Type="http://schemas.openxmlformats.org/officeDocument/2006/relationships/slide" Target="/ppt/slides/slide6.xml" Id="R3001e9502d014d37" /><Relationship Type="http://schemas.openxmlformats.org/officeDocument/2006/relationships/slide" Target="/ppt/slides/slide7.xml" Id="Rf0debbf2dce14bbf" /><Relationship Type="http://schemas.openxmlformats.org/officeDocument/2006/relationships/slide" Target="/ppt/slides/slide8.xml" Id="Rc43699924c3d4131" /><Relationship Type="http://schemas.openxmlformats.org/officeDocument/2006/relationships/slide" Target="/ppt/slides/slide9.xml" Id="R327bfd862d2a48de" /><Relationship Type="http://schemas.openxmlformats.org/officeDocument/2006/relationships/slide" Target="/ppt/slides/slide10.xml" Id="R8f4871915bb443f6" /><Relationship Type="http://schemas.openxmlformats.org/officeDocument/2006/relationships/slide" Target="/ppt/slides/slide11.xml" Id="R12ae3bd75d0b49d3" /><Relationship Type="http://schemas.openxmlformats.org/officeDocument/2006/relationships/slide" Target="/ppt/slides/slide12.xml" Id="R702644c5fba44793" /><Relationship Type="http://schemas.openxmlformats.org/officeDocument/2006/relationships/slide" Target="/ppt/slides/slide13.xml" Id="R2a27d50168fc4df3" /><Relationship Type="http://schemas.openxmlformats.org/officeDocument/2006/relationships/slide" Target="/ppt/slides/slide14.xml" Id="R67eba0ca6e4c4d5a" /><Relationship Type="http://schemas.openxmlformats.org/officeDocument/2006/relationships/slide" Target="/ppt/slides/slide15.xml" Id="R76f990ed42394fb5" /><Relationship Type="http://schemas.openxmlformats.org/officeDocument/2006/relationships/slide" Target="/ppt/slides/slide16.xml" Id="R1d87bebd9af6453d" /><Relationship Type="http://schemas.openxmlformats.org/officeDocument/2006/relationships/slide" Target="/ppt/slides/slide17.xml" Id="R6e54b88589424ed4" /><Relationship Type="http://schemas.openxmlformats.org/officeDocument/2006/relationships/slide" Target="/ppt/slides/slide18.xml" Id="R1db36b7d0f2743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237c0fb487447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4aa264269a4fac" /><Relationship Type="http://schemas.openxmlformats.org/officeDocument/2006/relationships/notesMaster" Target="/ppt/notesMasters/notesMaster1.xml" Id="Re52c65c242594d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8f0f7d79164186" /><Relationship Type="http://schemas.openxmlformats.org/officeDocument/2006/relationships/notesMaster" Target="/ppt/notesMasters/notesMaster1.xml" Id="R026a7172835a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e5380ea15c4727" /><Relationship Type="http://schemas.openxmlformats.org/officeDocument/2006/relationships/notesMaster" Target="/ppt/notesMasters/notesMaster1.xml" Id="Rda74af5e1c5547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a88d6284a84bd4" /><Relationship Type="http://schemas.openxmlformats.org/officeDocument/2006/relationships/notesMaster" Target="/ppt/notesMasters/notesMaster1.xml" Id="R54b49523fe644d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c692189ec461a" /><Relationship Type="http://schemas.openxmlformats.org/officeDocument/2006/relationships/notesMaster" Target="/ppt/notesMasters/notesMaster1.xml" Id="R93b9404c2ad346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333ea4830c4bd1" /><Relationship Type="http://schemas.openxmlformats.org/officeDocument/2006/relationships/notesMaster" Target="/ppt/notesMasters/notesMaster1.xml" Id="R6d9d9f0ac3d942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859863468d4386" /><Relationship Type="http://schemas.openxmlformats.org/officeDocument/2006/relationships/notesMaster" Target="/ppt/notesMasters/notesMaster1.xml" Id="Rcb7bd988cb1348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c345504d544649" /><Relationship Type="http://schemas.openxmlformats.org/officeDocument/2006/relationships/notesMaster" Target="/ppt/notesMasters/notesMaster1.xml" Id="Rea9aa1f131b949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27ce487dc84226" /><Relationship Type="http://schemas.openxmlformats.org/officeDocument/2006/relationships/notesMaster" Target="/ppt/notesMasters/notesMaster1.xml" Id="Ra32e0d09f4b648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d3ad9509eb4b55" /><Relationship Type="http://schemas.openxmlformats.org/officeDocument/2006/relationships/notesMaster" Target="/ppt/notesMasters/notesMaster1.xml" Id="R1694bb70c1c941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be3f4f8bc2419a" /><Relationship Type="http://schemas.openxmlformats.org/officeDocument/2006/relationships/notesMaster" Target="/ppt/notesMasters/notesMaster1.xml" Id="Rccf3d01b153349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50359cacb64c87" /><Relationship Type="http://schemas.openxmlformats.org/officeDocument/2006/relationships/notesMaster" Target="/ppt/notesMasters/notesMaster1.xml" Id="R2d07f43be04c41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d13d2a6cb3415e" /><Relationship Type="http://schemas.openxmlformats.org/officeDocument/2006/relationships/notesMaster" Target="/ppt/notesMasters/notesMaster1.xml" Id="Raa30ee5a1fa44a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28608a777a4434" /><Relationship Type="http://schemas.openxmlformats.org/officeDocument/2006/relationships/notesMaster" Target="/ppt/notesMasters/notesMaster1.xml" Id="Rb842bfe234ff4b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aed998500b47c4" /><Relationship Type="http://schemas.openxmlformats.org/officeDocument/2006/relationships/notesMaster" Target="/ppt/notesMasters/notesMaster1.xml" Id="R2400fe87959641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22908b23244118" /><Relationship Type="http://schemas.openxmlformats.org/officeDocument/2006/relationships/notesMaster" Target="/ppt/notesMasters/notesMaster1.xml" Id="R6b24374924474c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31c0c064164e5f" /><Relationship Type="http://schemas.openxmlformats.org/officeDocument/2006/relationships/notesMaster" Target="/ppt/notesMasters/notesMaster1.xml" Id="R33571eee2fe44f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5339151d054d91" /><Relationship Type="http://schemas.openxmlformats.org/officeDocument/2006/relationships/notesMaster" Target="/ppt/notesMasters/notesMaster1.xml" Id="Rf74e1840588343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channel identity and YouTube channel avatar. Audit run: 2026-09-06.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daily analytics: 2026-08-28 to 2026-09-03 vs 2026-08-21 to 2026-08-27; and 2026-08-07 to 2026-09-03 vs 2026-07-10 to 2026-08-06.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Comparison with prior audit dated 2026-09-05; vidIQ channel videos and comments retrieved 2026-09-06. New upload: https://www.youtube.com/watch?v=KsVy6X9uMJI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daily analytics. Latest data available through 2026-09-03. Changes use complete 7-day and 28-day windows against immediately preceding periods.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Severity synthesis from vidIQ analytics, retention, traffic sources, comments, and channel metadata retrieved 2026-09-06.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comments retrieved 2026-09-06; channel video descriptions reviewed via vidIQ metadata. Fact: audience requests and payment complaint. Inference: some qualified leads are lost.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audience retention for https://www.youtube.com/watch?v=B1Lh7Arwxw0 and https://www.youtube.com/watch?v=jljydMqOfo0. Claude: 84.08% at 1%, 48.20% at 2%. AI agent: 91.2% at 1%, 75.55% at 2%.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channel videos: general company-building episodes 256–620 lifetime views; https://www.youtube.com/watch?v=Poj7OZwHUgY has 5,149 views and 3.06 breakout. Comment evidence retrieved 2026-09-06.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traffic sources, 2026-08-10 to 2026-09-06: Search 11,160 views, avg 296 sec, 17.8%; Related/Suggested 2,874, avg 454 sec, 24.72%; End screens 82.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Shorts metadata and format split, 2026-08-10 to 2026-09-06. Long-form: 25,263 views / 104,269 watch minutes. Shorts: 1,606 / 347. Shorts traffic to videos: 254.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daily analytics 28-day comparisons. Latest: 38 comments / 30,178 views = 0.126%. Prior: 85 / 27,034 = 0.314%.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channel video metadata; https://www.youtube.com/watch?v=Lx-_8BfQPKw has 494 lifetime views. Audience thumbnail complaint retrieved 2026-09-06. CTR/impressions unavailable; causal claim intentionally marked inference.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vidIQ comments retrieved 2026-09-06. vidIQ competitor channel list returned empty. Inference labels distinguish likely impact from directly measured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Operational gaps synthesized from current audit evidence. These are proposed systems, not platform-reported fields.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Affected videos: https://www.youtube.com/watch?v=B1Lh7Arwxw0 ; https://www.youtube.com/watch?v=jljydMqOfo0 ; https://www.youtube.com/watch?v=Lx-_8BfQPKw ; https://www.youtube.com/watch?v=PLozshcx-gQ ; https://www.youtube.com/watch?v=KsVy6X9uMJI . Direct CTR unavailable.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Prioritized synthesis of evidence in this audit.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Seven-day corrective plan derived from the issue register; owners are operating-role assignments.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Targets for next weekly audit. Current baseline: 82 end-screen views, 10.3% Suggested share, 0.126% comment rate, 254 Shorts-to-video visits. New-video retention and direct CTR unavailable at audit time.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9dcc8f8f747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22900384bf49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Osama Weekly 16x9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d3caf8dbdf43dd" /><Relationship Type="http://schemas.openxmlformats.org/officeDocument/2006/relationships/slideLayout" Target="/ppt/slideLayouts/slideLayout1.xml" Id="R8ad87e4c876e44b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f1762dc8f3444da" /><Relationship Type="http://schemas.openxmlformats.org/officeDocument/2006/relationships/slideLayout" Target="/ppt/slideLayouts/slideLayout2.xml" Id="R6d667ccc425144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d87e4c876e44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sama Weekly Master"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d667ccc42514448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19038f9f9545cd" /><Relationship Type="http://schemas.openxmlformats.org/officeDocument/2006/relationships/image" Target="/ppt/media/image.jpeg" Id="Rc40db062d6574765" /><Relationship Type="http://schemas.openxmlformats.org/officeDocument/2006/relationships/notesSlide" Target="/ppt/notesSlides/notesSlide1.xml" Id="R9a0b26b66d69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933a149144d90" /><Relationship Type="http://schemas.openxmlformats.org/officeDocument/2006/relationships/notesSlide" Target="/ppt/notesSlides/notesSlide2.xml" Id="Rc78165968aad45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fe45ce0f77487e" /><Relationship Type="http://schemas.openxmlformats.org/officeDocument/2006/relationships/notesSlide" Target="/ppt/notesSlides/notesSlide3.xml" Id="R0cd3e8a8f7c247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6b6a1bb844e74" /><Relationship Type="http://schemas.openxmlformats.org/officeDocument/2006/relationships/notesSlide" Target="/ppt/notesSlides/notesSlide4.xml" Id="R7a73ab499aed42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a22353eaf4a03" /><Relationship Type="http://schemas.openxmlformats.org/officeDocument/2006/relationships/notesSlide" Target="/ppt/notesSlides/notesSlide5.xml" Id="R31c0d535233248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cf3ea762724da7" /><Relationship Type="http://schemas.openxmlformats.org/officeDocument/2006/relationships/notesSlide" Target="/ppt/notesSlides/notesSlide6.xml" Id="R8569494863524c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bfe800476e4206" /><Relationship Type="http://schemas.openxmlformats.org/officeDocument/2006/relationships/notesSlide" Target="/ppt/notesSlides/notesSlide7.xml" Id="Rddc28629a1cf4b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6b1cb444a4650" /><Relationship Type="http://schemas.openxmlformats.org/officeDocument/2006/relationships/notesSlide" Target="/ppt/notesSlides/notesSlide8.xml" Id="R3376b4a2398145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e831a7979f4bbe" /><Relationship Type="http://schemas.openxmlformats.org/officeDocument/2006/relationships/notesSlide" Target="/ppt/notesSlides/notesSlide9.xml" Id="Re7629fa79a7f45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a56c1682ea417b" /><Relationship Type="http://schemas.openxmlformats.org/officeDocument/2006/relationships/notesSlide" Target="/ppt/notesSlides/notesSlide10.xml" Id="R7f47a0f6680f43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a9928e819e4671" /><Relationship Type="http://schemas.openxmlformats.org/officeDocument/2006/relationships/notesSlide" Target="/ppt/notesSlides/notesSlide11.xml" Id="R05e26331795d4e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c2a1809e77405d" /><Relationship Type="http://schemas.openxmlformats.org/officeDocument/2006/relationships/notesSlide" Target="/ppt/notesSlides/notesSlide12.xml" Id="R14bc1476e3f04c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223a7ba3d34186" /><Relationship Type="http://schemas.openxmlformats.org/officeDocument/2006/relationships/notesSlide" Target="/ppt/notesSlides/notesSlide13.xml" Id="R507987d733d848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1e8663408a495a" /><Relationship Type="http://schemas.openxmlformats.org/officeDocument/2006/relationships/notesSlide" Target="/ppt/notesSlides/notesSlide14.xml" Id="R10294ee048514b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fe963907a04c4b" /><Relationship Type="http://schemas.openxmlformats.org/officeDocument/2006/relationships/notesSlide" Target="/ppt/notesSlides/notesSlide15.xml" Id="R658e50ce280d4f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eae1bb571249cf" /><Relationship Type="http://schemas.openxmlformats.org/officeDocument/2006/relationships/notesSlide" Target="/ppt/notesSlides/notesSlide16.xml" Id="Rbedacb652f1243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37593708c94518" /><Relationship Type="http://schemas.openxmlformats.org/officeDocument/2006/relationships/notesSlide" Target="/ppt/notesSlides/notesSlide17.xml" Id="Re6dfc2cfb33d45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975cb1c2364423" /><Relationship Type="http://schemas.openxmlformats.org/officeDocument/2006/relationships/notesSlide" Target="/ppt/notesSlides/notesSlide18.xml" Id="R802dc707f5ef4a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db062d6574765"/>
          <a:srcRect xmlns:a="http://schemas.openxmlformats.org/drawingml/2006/main" l="17361" t="0" r="17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53AFB-CDCE-4144-85D1-90B392C1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485E8-B156-475A-80C4-E2A9C49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239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9D2E7"/>
                </a:solidFill>
              </a:defRPr>
            </a:pPr>
            <a:r>
              <a:rPr sz="1125" b="1">
                <a:solidFill>
                  <a:srgbClr val="69D2E7"/>
                </a:solidFill>
              </a:rPr>
              <a:t>VIDIQ × YOUTUBE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9B9B6-2DDE-487F-B8CA-0ED9483D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09700"/>
            <a:ext cx="55721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أخطاء تدقيق</a:t>
            </a:r>
          </a:p>
          <a:p xmlns:a="http://schemas.openxmlformats.org/drawingml/2006/main">
            <a:pPr algn="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القناة نمو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CDC05-A3AA-4DAA-84B6-B5B71D84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7BCC8"/>
                </a:solidFill>
              </a:defRPr>
            </a:pPr>
            <a:r>
              <a:rPr sz="1500" b="0">
                <a:solidFill>
                  <a:srgbClr val="A7BCC8"/>
                </a:solidFill>
              </a:rPr>
              <a:t>الآن المؤهلين والعملاء النمو يمنع ما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DE234-8E81-47EF-9319-DBFE23DA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4476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FAFE1-40A2-46E0-9C7B-4F9C818C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24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41F"/>
                </a:solidFill>
              </a:defRPr>
            </a:pPr>
            <a:r>
              <a:rPr sz="1425" b="1">
                <a:solidFill>
                  <a:srgbClr val="07141F"/>
                </a:solidFill>
              </a:rPr>
              <a:t>2026 سبتمبر 6 في المنتهي الأسبوع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79212-A47B-461D-88BE-550A961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72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CC8"/>
                </a:solidFill>
              </a:defRPr>
            </a:pPr>
            <a:r>
              <a:rPr sz="825" b="0">
                <a:solidFill>
                  <a:srgbClr val="A7BCC8"/>
                </a:solidFill>
              </a:rPr>
              <a:t>Theme 01  •  Cyan / Midnight  •  True RTL</a:t>
            </a:r>
          </a:p>
        </p:txBody>
      </p:sp>
    </p:spTree>
    <p:extLst>
      <p:ext uri="{BB962C8B-B14F-4D97-AF65-F5344CB8AC3E}">
        <p14:creationId xmlns:p14="http://schemas.microsoft.com/office/powerpoint/2010/main" val="804949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85A57-4F26-492F-A49A-30769362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1D766-01CF-4C39-BEBB-5EC6AF7C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8F64E-71DF-4897-811C-0692305B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A5270-1959-4314-9D4C-16893DF9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2FAC0-C67C-4F0D-8D75-75C2FECA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المشاهد وصول بعد تحدث الآن خسارة أكبر قوي؛ النمو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73618-BC24-43A7-9B5D-0E169FB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8ACCC-FF85-4867-9D53-053CC69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B2EA6-CA44-4218-B30F-7DF62456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43D17B"/>
                </a:solidFill>
              </a:defRPr>
            </a:pPr>
            <a:r>
              <a:rPr sz="2400" b="1">
                <a:solidFill>
                  <a:srgbClr val="43D17B"/>
                </a:solidFill>
              </a:rPr>
              <a:t>+88%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66A4E-38E6-4C6D-9DBE-B707A8C6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أيام 7 آخر — المشاهدات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F9ED0-5119-4046-8875-FDE2B8AD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E50C5-86BD-4625-9E94-E0CFCFFE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669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43D17B"/>
                </a:solidFill>
              </a:defRPr>
            </a:pPr>
            <a:r>
              <a:rPr sz="2400" b="1">
                <a:solidFill>
                  <a:srgbClr val="43D17B"/>
                </a:solidFill>
              </a:rPr>
              <a:t>+321%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71A9D-63D1-4440-BF6A-A461BF0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أيام 7 آخر — المشتركين صافي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C8673-7FF6-4032-A974-5A8615CF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6364C-0152-4960-A5D3-70AC0F5B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4D67"/>
                </a:solidFill>
              </a:defRPr>
            </a:pPr>
            <a:r>
              <a:rPr sz="2400" b="1">
                <a:solidFill>
                  <a:srgbClr val="FF4D67"/>
                </a:solidFill>
              </a:rPr>
              <a:t>−55%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FA54D-7A61-473D-AC57-27C5F7E4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يومًا 28 آخر — التعليقات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C0638-006B-4140-A581-E47E3EC2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3A36D-1557-43F2-A363-E825BF95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9D2E7"/>
                </a:solidFill>
              </a:defRPr>
            </a:pPr>
            <a:r>
              <a:rPr sz="1650" b="1">
                <a:solidFill>
                  <a:srgbClr val="69D2E7"/>
                </a:solidFill>
              </a:rPr>
              <a:t>التنفيذي التشخيص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3BC90-D1EA-4099-B632-50BFA469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7E1C5-8C49-47F7-B19F-7BE7D78B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خطأ. الطبيعي التقلب نسمّي لا لذلك تحسّنا؛ والاشتراك الوصول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78E0E-FB50-43C0-BC93-B48F8BBA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7857D-AF99-43AD-89B9-68A63FB3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الجمهور. مع والحوار دقيقة، أول الداخلي، الربط التحويل، في المادي التسرب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9DB69-021E-437D-B8A7-F7478F32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00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B7528-741F-43EC-A18D-68EB39E5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الجديد. تي بي جي شات فيديو زخم استثمر ثم العميل مسار أصلح الأسبوع: هذا الأولوية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0CE3D-F459-4E2A-A28C-CF6D4AF3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E9EE5-0627-4ED0-8AA0-196EE37C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7137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269A96-4915-4C45-8048-3F451242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9DD67-3176-4DD4-B623-64BDDA87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CBD31-6745-4C1F-8C4A-5DAB0FB6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5C57D-5D9D-42C9-9059-E3B9A4EB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9DEC6-1810-4383-85EB-0AC86E92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السابق؟ التدقيق منذ تغيّر ما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A27CD-7A00-4C89-ACFA-C0EC2C14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E0AD7-1199-44DC-84A7-18F95F74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276600" cy="38290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3B484-23C9-41F6-92A9-7C337848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3D17B"/>
                </a:solidFill>
              </a:defRPr>
            </a:pPr>
            <a:r>
              <a:rPr sz="1875" b="1">
                <a:solidFill>
                  <a:srgbClr val="43D17B"/>
                </a:solidFill>
              </a:rPr>
              <a:t>تحسّن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980DF-F591-47F2-A713-2DB7F5A0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C25C6-F6CD-4FFE-978C-8F1C4B31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الطويل النشر فجوة انتهت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4AD14-3D75-47C8-83D8-BF05B95E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A6ECF-6262-4FA6-8F6E-6A21BFC5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المعتاد 2.28× عند تي بي جي شات فيديو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A61EC-5264-4F98-9F6C-76643B80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76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88004-8BA2-4455-AD2D-A0CA4E06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النشر” “توقف خطأ نكرر لا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1CD7D-0F34-45FE-A724-7151EB2C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3276600" cy="38290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3A03D-1E27-4635-B72A-8E543C91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40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735C"/>
                </a:solidFill>
              </a:defRPr>
            </a:pPr>
            <a:r>
              <a:rPr sz="1875" b="1">
                <a:solidFill>
                  <a:srgbClr val="FF735C"/>
                </a:solidFill>
              </a:rPr>
              <a:t>متكرر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2A23F-7AAC-4B95-9812-229805C5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EF1BE-ECFF-4509-94AE-966DC68F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الدعوات وتعدد التحويل تسرب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E2928-6178-41A4-97D0-622AE153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2A522-15EB-486C-B9A6-FBDAAD0F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27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والمسارات النهاية شاشات ضعف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3D4BB-767D-49A7-9AFC-0D825C19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76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577B6-8B80-4AA8-9AB5-620D2200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الجمهور تفقد كلود مقدمة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61F74-F0ED-4D7F-9685-3DFDD444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05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80B74-15B0-4E2B-9550-03638BC3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100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نظام بلا قصيرة ومقاطع عامة سلسلة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D16F4-6125-4D8B-AC1B-E5FFD604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3276600" cy="38290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ABE85-AD6E-454A-A004-9982203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D166"/>
                </a:solidFill>
              </a:defRPr>
            </a:pPr>
            <a:r>
              <a:rPr sz="1875" b="1">
                <a:solidFill>
                  <a:srgbClr val="FFD166"/>
                </a:solidFill>
              </a:rPr>
              <a:t>جديد دليل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31D4F-CE5D-49BA-A92D-41C1BAA6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A018B7-F940-41FE-B16F-829229AF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241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55% انخفضت التعليقات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1A8D6-C7CA-4EFF-9D6A-BDF8B684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23E73F-F601-4020-9055-1D946E13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27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مصغرة وصورة صوت شكاوى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F568D-CD68-46B0-A580-E48B1A4A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76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897F2-ED0C-4164-90A9-8F7CF756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والتواصل للتسجيل واضح طلب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AD411E-6022-4F05-9943-AE88BF7F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05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9EF929-15AD-4680-8F15-B66D65FE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00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بعد متاح غير الجديد الفيديو احتفاظ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80D69A-5A91-460F-A919-F756766A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379863-7778-46FE-8078-424D5CF0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3903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FC423A-1E29-4CF7-A142-36486EAC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8C341-6733-4597-A09F-AE921B64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F2590-D4C1-4A7B-825C-DB84A195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5F801-B6B9-4E83-86D8-AEF404E9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300D4-B626-45B6-8BAD-60719EEE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موازٍ تفاعل بلا نمو النتائج: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0A63B-BC04-4493-87CC-067DB3C0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61F89-D974-48BF-9646-B8CBDDEA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38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9D2E7"/>
                </a:solidFill>
              </a:defRPr>
            </a:pPr>
            <a:r>
              <a:rPr sz="1275" b="1">
                <a:solidFill>
                  <a:srgbClr val="69D2E7"/>
                </a:solidFill>
              </a:rPr>
              <a:t>أيام 7 آخر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B5A7B-7183-4F2A-AE39-2966DF7D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9E1B1-D841-4107-B3E5-91946B68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المؤشر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FEA61-97F9-4FCE-B859-263B8A4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الحالية الفترة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DA64E-6BB1-4013-B734-1A262A34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السابقة الفترة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B7B5C-1A42-4447-81AA-E5E53218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التغير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253E4-5232-43DD-A997-FA95FD40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0C24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5A108-2CBD-4251-BE5D-17CBEC6D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المشاهدات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15600-6DB1-4DC2-8CB9-56150F6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12,059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71813-9574-42A7-83E3-0578404D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6,404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F28D7-7A6A-48E2-965C-52A711A7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+88%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4F528-94A1-4B86-9E53-2E27CC85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A5BF9-8717-4DF1-BEED-056D3D61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المشاهدة وقت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230A3-1BAE-4874-B166-712B7970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38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دقيقة 35,482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4E5CE-4AFF-448D-A008-FD8D0946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دقيقة 29,173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D42F9-C931-4140-BB91-C483EE7F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+22%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7DFDD-D4AE-4035-BA46-50F421D3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0C24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874920-5645-47F1-BB3C-A32CC727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المشتركين صافي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987A2-8158-483C-9847-A2C8BF0A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90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+767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5AE6C6-EF5C-4A50-9B9B-9025E8BA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+182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E98FF-E2EE-41C4-AE0D-5F82EE8C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+321%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D3C894-26BD-489C-BF1B-E286C015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4357E-C245-4276-979F-AD7CE7C9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التعليقات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8CD087-D2CB-47A4-89EA-FBB45292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43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BCC4D-6B65-41C4-B543-0B664BDB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98BE2-8FDC-4BE3-9395-1886D7F0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−25%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85E975-455C-4E75-BA2F-E39CC4E5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(−55%) تعليقًا 38 • (+119%) +1,418 صافي • (+12%) مشاهدة 30,178 يومًا: 28 آخر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852A57-1677-4B40-A39E-55020240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4D67"/>
                </a:solidFill>
              </a:defRPr>
            </a:pPr>
            <a:r>
              <a:rPr sz="1275" b="1">
                <a:solidFill>
                  <a:srgbClr val="FF4D67"/>
                </a:solidFill>
              </a:rPr>
              <a:t>60% يقارب انخفاض — 0.126% إلى 0.314% من هبط التعليق معدل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A514D9-2743-4048-9E25-9B0088CD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3DB219-2FEC-4ED0-BDDD-6A1686EA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0619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8CB668-12C3-4805-8270-37FA244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397AE-36AE-49A4-9BBE-F8529D7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0FE3F-BE56-4AE4-868F-CF44B46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2F732-45BD-424F-89FC-7A6D9FB1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D105C-BDFF-44AC-BBCD-FFBE1DE7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التدخل تستحق عوائق تسعة الأخطاء: سجل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586A4-98CA-400D-8AF9-C6817C63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50F1B-2E07-4AA5-93CA-664F1D5C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14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16762-3D50-4E4D-8A19-BAA0916C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81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D2E7"/>
                </a:solidFill>
              </a:defRPr>
            </a:pPr>
            <a:r>
              <a:rPr sz="1350" b="1">
                <a:solidFill>
                  <a:srgbClr val="69D2E7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182E5-3C10-4C6C-B0E4-C29FD987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81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متعطل أو مشتت تحويل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C437A-BEAB-4EED-937E-9EDAEB69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7165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4D67"/>
          </a:solidFill>
          <a:ln xmlns:a="http://schemas.openxmlformats.org/drawingml/2006/main" w="9525">
            <a:solidFill>
              <a:srgbClr val="FF4D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E4911-0712-4EF6-BC64-C4897B0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288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حرج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C279B-F750-470E-8E2A-21B17463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314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4DFF2-A41E-4BD3-8846-7A73B40A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812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D2E7"/>
                </a:solidFill>
              </a:defRPr>
            </a:pPr>
            <a:r>
              <a:rPr sz="1350" b="1">
                <a:solidFill>
                  <a:srgbClr val="69D2E7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E5FAC-AEB5-4A61-97A3-390D2829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81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دقيقة أول تسرب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A373E-ABA9-44EC-8239-9818E4F3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48E9E-13B4-47A6-8C11-FEEB2E94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5F6DA-338F-444C-BC8F-9571A0B7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5314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8163E-39B9-4C29-8FDC-FC215A25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813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D2E7"/>
                </a:solidFill>
              </a:defRPr>
            </a:pPr>
            <a:r>
              <a:rPr sz="1350" b="1">
                <a:solidFill>
                  <a:srgbClr val="69D2E7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7C622-3E71-4B5A-B877-804E78B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81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مجزأة وسلسلة موضوعات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C57B5-6EDD-4D04-8220-E78D962A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514FF-F2E1-4B79-84A9-AC95A01E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FBC93-88A6-4755-B988-7C8CC02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314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C0643-F4B2-4E92-9F88-9AF7249C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814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D2E7"/>
                </a:solidFill>
              </a:defRPr>
            </a:pPr>
            <a:r>
              <a:rPr sz="1350" b="1">
                <a:solidFill>
                  <a:srgbClr val="69D2E7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9B9F5-99BF-4DFF-ACEB-0B7FFF12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81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ضعيف داخلي ربط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B05B9-DAFE-4842-A8F6-EA53828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BA0634-FA20-476B-93CD-A9DE73F7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FFC1C-CBD7-4407-B17A-999770C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5314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805EA9-CE8D-4EB5-94DE-FEF950C0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81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D2E7"/>
                </a:solidFill>
              </a:defRPr>
            </a:pPr>
            <a:r>
              <a:rPr sz="1350" b="1">
                <a:solidFill>
                  <a:srgbClr val="69D2E7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A01B76-E272-469A-BFA4-149E795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815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نظام بلا قصيرة مقاطع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E4EEA7-A5BB-4BB3-8AAB-C73EFCF0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0DEB50-D79F-42FF-A102-6EC971F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292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AD55E5-5F95-482E-A514-3FD7CA13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14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112038-D016-47D5-A83A-535F9AC3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81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D2E7"/>
                </a:solidFill>
              </a:defRPr>
            </a:pPr>
            <a:r>
              <a:rPr sz="1350" b="1">
                <a:solidFill>
                  <a:srgbClr val="69D2E7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A809B6-09E2-4DD7-82A7-1DD82544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781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يتراجع أعمق تفاعل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5EB291-2A30-4479-86F8-1526C3A5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ECB9B1-BC93-4884-864E-81291406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464D02-FEFA-4144-94D5-14CFA2D4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5314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B867D1-D5AF-4156-BA3C-510D40A2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812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D2E7"/>
                </a:solidFill>
              </a:defRPr>
            </a:pPr>
            <a:r>
              <a:rPr sz="1350" b="1">
                <a:solidFill>
                  <a:srgbClr val="69D2E7"/>
                </a:solidFill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280616-BD9A-4B8D-8544-6A3989EE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581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وصفية وبيانات تغليف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E7EEB5-6D50-4D5C-BB18-23003C89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F1A2DD-1ECE-48D2-A33E-80C219F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متوسط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5546C1-D0FB-4E0B-9611-7A27AE24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314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87BE35-42D8-4FE8-B8FC-FA2A1126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813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D2E7"/>
                </a:solidFill>
              </a:defRPr>
            </a:pPr>
            <a:r>
              <a:rPr sz="1350" b="1">
                <a:solidFill>
                  <a:srgbClr val="69D2E7"/>
                </a:solidFill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640600-8F40-4385-B3FB-BF9FB4EC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381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والصورة الصوت اتساق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EDD559-E7B0-4842-BDD7-3DC73BB0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036F82-C8B8-4229-AD4D-77F8689D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متوسط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1D9918-3FF9-44C4-81CB-C4193B7E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314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B9EC12-4A12-43E9-AD4C-26858F12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814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9D2E7"/>
                </a:solidFill>
              </a:defRPr>
            </a:pPr>
            <a:r>
              <a:rPr sz="1350" b="1">
                <a:solidFill>
                  <a:srgbClr val="69D2E7"/>
                </a:solidFill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C59223-EAD5-4ACA-BF09-DCDE4A68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181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منافسين مقارنة توجد لا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7A7A74-6005-48DE-963F-CF251ABD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5823D0-A638-4F74-9B5F-33D60BB7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متوسط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59AD89-A987-4737-A8F0-14909713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CC8"/>
                </a:solidFill>
              </a:defRPr>
            </a:pPr>
            <a:r>
              <a:rPr sz="1200" b="0">
                <a:solidFill>
                  <a:srgbClr val="A7BCC8"/>
                </a:solidFill>
              </a:rPr>
              <a:t>التنفيذ. سهولة حسب لا المؤهلين، والعملاء المستدام النمو على أثره حسب الترتيب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5F3F6C-C2BA-4CD1-919B-0146AAEF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9EC524-74AB-4CC1-A2DC-0345871E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6559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4BB195-1E1E-42AE-99E9-C94D626A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AA48E-47C1-47DF-B53D-C26B2AE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EC736-E754-46A3-A7E2-0E105A7E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6308A-696F-43D5-ACAE-C497AB39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242C7-E612-4C21-B36F-61E0527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تتسرب ثم تصل الشرائية النية 1: الخطأ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B3C85-B2AF-44D2-B6EC-B34E4658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A0C4A-01A6-4C28-8852-40F6A5A6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4D67"/>
          </a:solidFill>
          <a:ln xmlns:a="http://schemas.openxmlformats.org/drawingml/2006/main" w="9525">
            <a:solidFill>
              <a:srgbClr val="FF4D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94143-428C-459E-B750-7AE88A60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حرج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9FA38-908B-44BF-8206-A6EC58EF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1162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3098A-F6A1-41BD-B71A-CA1850B2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764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متكرر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535B7-01E5-4AF0-93F8-D5AA7E18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01 الخطأ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0ACBE-9938-4D25-B83F-3F77CBE1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645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يفشل الدفع وبعض موحد غير والتواصل التسجيل مسار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8CC41-24BE-4DC4-8048-6A076F3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03907-29CE-4819-AFC6-BB289919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0AFA3-BC75-4AA9-A4A4-5052784C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90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حقيقة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C4D97-E3F4-4CDE-8092-572F9032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وجهات. عدة بين المشاهد يوزع الوصف للدفع. خطوة آخر فشل عن وبلاغ أتواصل؟” و“كيف كيف؟” الدورة في أسجل “أبي تعليقات: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E8407-E8A2-450F-891E-96D69D9B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D3A66-84AF-410F-BEC2-F0CBC98C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استنتاج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A867E-F5AB-4570-AD45-21EB30E9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موحدة. تحويل نسبة تتوفر لا تسجيلها؛ قبل تضيع المؤهلين العملاء من نسبة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50461-19B7-466A-AF3A-26B2ABCD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600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F35B8-2B5B-4E0F-B7FA-D214FDB3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9D2E7"/>
                </a:solidFill>
              </a:defRPr>
            </a:pPr>
            <a:r>
              <a:rPr sz="1500" b="1">
                <a:solidFill>
                  <a:srgbClr val="69D2E7"/>
                </a:solidFill>
              </a:rPr>
              <a:t>النمو؟ يحدّ لماذا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B84A3-8AC3-4976-AFB0-99EAFBE4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للقياس. وقابلًا موثوقًا واحدًا مسارًا تقدّم لم القناة لكن النية، أعلن المشاهد الإيراد: إلى عائق أقرب هو هذا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33053-937D-422D-A8C2-2DCCA389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C3F54-F652-4FE6-B1F6-1764D5DB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D67"/>
                </a:solidFill>
              </a:defRPr>
            </a:pPr>
            <a:r>
              <a:rPr sz="1050" b="1">
                <a:solidFill>
                  <a:srgbClr val="FF4D67"/>
                </a:solidFill>
              </a:rPr>
              <a:t>أوقف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D1372-5DEB-4C84-8543-972C628B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625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الواحد. الفيديو في أساسية دعوة من أكثر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F6ADB-A53D-4A1A-B313-15F9EB3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17B"/>
                </a:solidFill>
              </a:defRPr>
            </a:pPr>
            <a:r>
              <a:rPr sz="1050" b="1">
                <a:solidFill>
                  <a:srgbClr val="43D17B"/>
                </a:solidFill>
              </a:rPr>
              <a:t>غيّر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A686A-50B9-44C2-83D6-0A52D68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625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مثبت. تعليق + الفيديو نية حسب واحدة وجهة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357FD-1745-42D6-BC2E-F8602BC9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المفقود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6381D4-1A0B-424D-9996-9254570A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981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عملاء. ولوحة وتتبع دفع فحص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AB1E4-1AE7-4E3A-AE6F-BFC07D1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750A6-0B28-4369-8A65-47020488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864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CC8"/>
                </a:solidFill>
              </a:defRPr>
            </a:pPr>
            <a:r>
              <a:rPr sz="975" b="1">
                <a:solidFill>
                  <a:srgbClr val="A7BCC8"/>
                </a:solidFill>
              </a:rPr>
              <a:t>ساعة 24 خلال الموعد: • النمو مسؤول المسؤول: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5F0365-0E0A-4BDB-BEC5-781C9E22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أسبوعيًا مؤهلين عملاء 5 + للرابط 100% نجاح النجاح: دليل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47A88-1665-426F-9190-C81799A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D47555-1594-44D4-BBB7-9B5EC044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1871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31030E-A798-404B-BAFA-E52432DB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C1376-41AA-4E6C-BB5D-77D9528A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1636B-4C44-4D90-AAFA-0024C1C9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BB2C2-A34E-4323-9245-A4943B40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A1309-D135-4C85-8B1C-13DF1A8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دقيقة أول في الزخم يفقد بحثي فيديو أفضل 2: الخطأ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89074-9902-423B-9844-18ACE73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94B30-B66F-4CCC-A26B-2C3CB44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7F6B7-A34D-49F9-B231-F82BC06F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8E30C-42E2-4732-AC7A-868D101D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1162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BA39C-406D-4A8F-B0BD-A9893053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764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متكرر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D42D4-78BB-4648-9E19-64A3C52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02 الخطأ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973EE-3837-421C-9374-132FE73C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645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الجمهور نصف تستهلك كلود كورس مقدمة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65397-A759-43A5-8673-AA7B5911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771E9-6DE2-44D8-A928-F4BD4A8D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نسبي احتفاظ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EA6DB-8833-4425-B6D6-FCB4F306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1% عند — كلود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267C9-62DF-4115-A99D-229DD403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6096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01644-1AD6-4CAB-9648-143B99A4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" y="2981325"/>
            <a:ext cx="512064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46A2A-27A0-4925-8B46-AB763EF8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D5439-ED24-4617-B804-DE9F4002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2% عند — كلود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414DE-5300-4116-A723-4330DFE0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6096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776E86-4C59-484A-8DEC-159D895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420" y="3600450"/>
            <a:ext cx="292608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7"/>
          </a:solidFill>
          <a:ln xmlns:a="http://schemas.openxmlformats.org/drawingml/2006/main" w="9525">
            <a:solidFill>
              <a:srgbClr val="FF4D6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EE697-144F-4713-88C3-A61C5C07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D67"/>
                </a:solidFill>
              </a:defRPr>
            </a:pPr>
            <a:r>
              <a:rPr sz="975" b="1">
                <a:solidFill>
                  <a:srgbClr val="FF4D67"/>
                </a:solidFill>
              </a:rPr>
              <a:t>48%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5AA91-7235-466E-84A4-1FBFA253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528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2% عند — الذكي الوكيل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A7B22-8FF3-4EDB-BD4A-52CB4C4C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6096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57867-0262-4CD6-9C1E-98BCC568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4219575"/>
            <a:ext cx="463296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17B"/>
          </a:solidFill>
          <a:ln xmlns:a="http://schemas.openxmlformats.org/drawingml/2006/main" w="9525">
            <a:solidFill>
              <a:srgbClr val="43D1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C07F50-F42B-4EA1-9DBE-8BEC78D6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17B"/>
                </a:solidFill>
              </a:defRPr>
            </a:pPr>
            <a:r>
              <a:rPr sz="975" b="1">
                <a:solidFill>
                  <a:srgbClr val="43D17B"/>
                </a:solidFill>
              </a:rPr>
              <a:t>76%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96C57D-F8D8-48F0-AC2E-8D888935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600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2FE3F-B7F0-4A7A-B8DC-1351DE80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52675"/>
            <a:ext cx="1123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4371C1-DCDA-4902-931E-D78A2AEF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098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حقيقة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549A74-3CAC-4BAE-B2E3-C585A395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067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نفسها. النقطة عند بـ76% يحتفظ الوكيل فيديو الأولى؛ الدقيقة قرب 48% إلى 84% من يهبط كلود فيديو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604BF0-23D4-4366-92A1-46196F41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1123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0F169-BA6C-45AA-8FB5-96DEAC8D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9095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استنتاج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3540C6-5C49-46A9-98A4-BE6F139A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590A58-CEC6-4EC7-8FAE-C19628E1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D67"/>
                </a:solidFill>
              </a:defRPr>
            </a:pPr>
            <a:r>
              <a:rPr sz="1050" b="1">
                <a:solidFill>
                  <a:srgbClr val="FF4D67"/>
                </a:solidFill>
              </a:rPr>
              <a:t>أوقف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A8B6DE-C3CF-4E1E-96E8-FA945A1B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625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النتيجة. قبل طويلان وتعريف مقدمة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C927A9-7FF7-403A-AB87-AC6C4451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17B"/>
                </a:solidFill>
              </a:defRPr>
            </a:pPr>
            <a:r>
              <a:rPr sz="1050" b="1">
                <a:solidFill>
                  <a:srgbClr val="43D17B"/>
                </a:solidFill>
              </a:rPr>
              <a:t>غيّر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34BE06-072B-49F8-A35C-CDF38082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625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الفيديو. خريطة ثم ثانية 20 خلال الدليل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AAE9DC-2367-44AE-BD87-D0BF0D08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المفقود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953372-E4A8-4659-AA58-C1AFAEA3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981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ثانية. 30 واختبار افتتاح قالب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B53105-CBCD-474B-A504-F26C430D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5CF8DE-A9A4-455D-A40B-4DD3D3ED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864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CC8"/>
                </a:solidFill>
              </a:defRPr>
            </a:pPr>
            <a:r>
              <a:rPr sz="975" b="1">
                <a:solidFill>
                  <a:srgbClr val="A7BCC8"/>
                </a:solidFill>
              </a:rPr>
              <a:t>ساعة 48 خلال الموعد: • المحرر + المقدم المسؤول: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229B6E-F60D-44E1-AD7F-6AE485CD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≥55% دقيقة وأول ≥65% ثانية 30 احتفاظ النجاح: دليل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8F37EF-515A-40B4-A123-ED4A632F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04B75C-AE41-48B8-9503-0BDEC45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2309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9C5226-BA93-4028-BE84-BDD809B2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A12D4-C6E9-4588-8CA7-37DA8F9F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3E148-57AB-42F4-A2F6-20B264D2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D1D36-9C30-4A68-8E5A-449EE398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67124-6495-4839-AEFC-73E8862B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المستقل العملي الوعد من أضعف العامة السلسلة 3: الخطأ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11AC4-4B1F-49EF-AFDE-858BC81F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B0C67-9E23-4C95-82C0-00E08DC4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F5508-010E-49A6-AC03-D69613B7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423DD-5BFD-4249-A27B-0AE9E065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1162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EF207-5283-41F0-9EF4-B41BD271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764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متكرر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BC46F-6B1A-4068-AC27-E30503E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03 الخطأ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66A65-0E40-4649-A812-5F9CD39E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645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شركة” “بناء يوميات لا نتيجة، عن يبحث المشاهد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5B234-BCE9-437D-8653-834CE444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BA62E-595E-46C8-A9ED-B6263F46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A4A24-0F9B-4328-947E-4099CE86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90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حقيقة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DF7E5-CE06-4E18-9D71-63DA3F05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عنه. الكلام بدل التنفيذ مشاهدة يطلب تعليق 5,149. وصلت بوست” 2000 “نشرت مثل محددة أمثلة بينما مشاهدة، 256–620 غالبًا تحقق العامة السلسلة حلقات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59F9A-53BB-417C-9184-A264C0AA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CDC05-EF06-4036-9536-27B54504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استنتاج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6FA56-3F21-4301-AA8F-218E1FE9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والمقترحات. البحث قابلية وتخفض حلقة لكل المستقلة القيمة تخفي المتسلسلة الهوية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10F5C-1571-48D7-9638-D737B7C9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600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A6269-A608-44F9-B0A3-136FFFB0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9D2E7"/>
                </a:solidFill>
              </a:defRPr>
            </a:pPr>
            <a:r>
              <a:rPr sz="1500" b="1">
                <a:solidFill>
                  <a:srgbClr val="69D2E7"/>
                </a:solidFill>
              </a:rPr>
              <a:t>النمو؟ يحدّ لماذا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E5572-7EB6-4932-B879-6A5BB3E4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والشركات. العمل لجمهور وتصل مستقل كمدخل تعمل المحددة النتيجة سابقًا؛ سياقًا تحتاج مبهمة حلقة كل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00170-4D42-48C8-8E54-90A7A467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84675-4C1A-4B69-AB25-5669432F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D67"/>
                </a:solidFill>
              </a:defRPr>
            </a:pPr>
            <a:r>
              <a:rPr sz="1050" b="1">
                <a:solidFill>
                  <a:srgbClr val="FF4D67"/>
                </a:solidFill>
              </a:rPr>
              <a:t>أوقف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9EA8D-B61F-4653-A045-B1FF4BB7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625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الرئيسي. كالوعد القصة أو الحلقة رقم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17798-E7EA-4971-917B-08AB9506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17B"/>
                </a:solidFill>
              </a:defRPr>
            </a:pPr>
            <a:r>
              <a:rPr sz="1050" b="1">
                <a:solidFill>
                  <a:srgbClr val="43D17B"/>
                </a:solidFill>
              </a:rPr>
              <a:t>غيّر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0FC553-EB00-471C-9F1E-FE6FE2CB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625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عنوان. كل في محددة نتيجة + مشكلة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F2A35D-F48D-40C5-9ACE-19768EAA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المفقود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F2D20E-5A78-4FCD-BE71-C7C8EAF8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981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للسلسلة. ودليل محتوى أعمدة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D3FFFE-EF35-45A5-B062-F98C7757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322F27-57A6-4238-BCF2-7D30737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864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CC8"/>
                </a:solidFill>
              </a:defRPr>
            </a:pPr>
            <a:r>
              <a:rPr sz="975" b="1">
                <a:solidFill>
                  <a:srgbClr val="A7BCC8"/>
                </a:solidFill>
              </a:rPr>
              <a:t>أيام 3 خلال الموعد: • المحتوى قائد المسؤول: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447BB-B54C-40D8-992E-4FCB5BC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السلسلة وسيط ≥1.5× أيام 7 مشاهدات وسيط النجاح: دليل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D12108-3D7A-4BC2-9A29-3D3C747A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6B06C1-FCD5-47B1-B2C9-D4A60419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22422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1464AC-1383-482E-A7B3-B2B755A9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F7D9B-3319-4748-88F1-AD886C1F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4D5DF-465C-4047-BF60-6DD39DCC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D12F6-998E-4A10-80BE-FA851E6B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5E655-C6F9-46FE-B6B3-85F8EC3A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تالية مشاهدة خطوة على يحصل لا جمهور أفضل 4: الخطأ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D94CC-2090-4216-895B-DB9877CC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A11F2-B4AB-4084-BA7C-BDC6E554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D417C-EB76-431F-90C2-E4656C6E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4784F-9E7C-43FE-A50E-9956D8AA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1162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39789-101D-42A6-919E-D37A8612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764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متكرر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4DB34-2FCF-492F-A65B-F99BC59A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04 الخطأ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2A6A1-19F9-4877-A355-F4750C64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645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ضعيف الداخلي الربط لكن نوعية المقترحات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BEE7C-CCAE-48D3-B247-74275D62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EA490-91B4-4D8F-A787-DFA4F209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D166"/>
                </a:solidFill>
              </a:defRPr>
            </a:pPr>
            <a:r>
              <a:rPr sz="2400" b="1">
                <a:solidFill>
                  <a:srgbClr val="FFD166"/>
                </a:solidFill>
              </a:rPr>
              <a:t>10.3%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7B522-7074-47C0-81D6-50D0306B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المقترحة الفيديوهات حصة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C7E6F-364B-47CF-B3FA-4D05FF26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9D98E-5C37-4F93-A0F1-05015DDC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90775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43D17B"/>
                </a:solidFill>
              </a:defRPr>
            </a:pPr>
            <a:r>
              <a:rPr sz="2400" b="1">
                <a:solidFill>
                  <a:srgbClr val="43D17B"/>
                </a:solidFill>
              </a:rPr>
              <a:t>7:34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2F7A2-8793-4806-B8F8-7CABA2B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241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المقترحات مشاهدة متوسط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D1A99-A87C-4941-86B2-34056BD4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E1EBE-3CA8-4133-BE06-D418EB1D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90775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4D67"/>
                </a:solidFill>
              </a:defRPr>
            </a:pPr>
            <a:r>
              <a:rPr sz="2400" b="1">
                <a:solidFill>
                  <a:srgbClr val="FF4D67"/>
                </a:solidFill>
              </a:rPr>
              <a:t>82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03C87-2155-4431-A5EE-6134E316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241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النهاية شاشات من فقط مشاهدة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3E834-4B37-4474-8062-B33675D7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الجلسة. يرفع قد العنقودية الروابط توسيع استنتاج: للبحث. 17.8% مقابل 24.7% تحتفظ المقترحات حقيقة: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B053F-7BBE-4C87-9D4E-22369A7F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0C9FA-9E92-41AF-8225-A01860CD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D67"/>
                </a:solidFill>
              </a:defRPr>
            </a:pPr>
            <a:r>
              <a:rPr sz="1050" b="1">
                <a:solidFill>
                  <a:srgbClr val="FF4D67"/>
                </a:solidFill>
              </a:rPr>
              <a:t>أوقف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BC792-0F44-4071-A192-49E0C49E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625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محدد. تالٍ فيديو بلا النشر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F1004-5C8B-40A2-B844-1D909C61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17B"/>
                </a:solidFill>
              </a:defRPr>
            </a:pPr>
            <a:r>
              <a:rPr sz="1050" b="1">
                <a:solidFill>
                  <a:srgbClr val="43D17B"/>
                </a:solidFill>
              </a:rPr>
              <a:t>غيّر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7B05D-34BC-49D4-8717-33138F08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625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نفسه. للرابط تعليق + قائمة + نهاية شاشة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EC4C2-E215-4E43-836B-A0827541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المفقود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BBF061-C7DB-4390-B4E7-DC8B0954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981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15. لأفضل فيديو ← فيديو خريطة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07D319-3C44-485F-A4E6-311C48A4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4BE727-C465-43B3-9A5C-C3C37B02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864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CC8"/>
                </a:solidFill>
              </a:defRPr>
            </a:pPr>
            <a:r>
              <a:rPr sz="975" b="1">
                <a:solidFill>
                  <a:srgbClr val="A7BCC8"/>
                </a:solidFill>
              </a:rPr>
              <a:t>ساعة 48 خلال الموعد: • القناة عمليات المسؤول: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6CA432-6E30-4E1F-BE9A-6D4BC939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يومًا 28 خلال ≥15% والمقترحات ≥250 النهاية شاشات النجاح: دليل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00CC0A-BB57-4FB0-A74E-1866E67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557979-1D54-43DC-8FD5-7D701A2E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4586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768819-53BD-4206-84E6-09AF5F49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51227-D37B-4F12-AC7C-A577FC75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52A20-4B62-4D85-AD6F-8037BAAE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9FD9E-7F7A-4BE9-89A1-DEA1CD6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4E604-EE40-4358-84AD-2D6CCDFD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الطويل للمحتوى جسرًا ليست القصيرة المقاطع 5: الخطأ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89984-E314-4F90-BDCA-45665738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31727-B8D8-4584-A3B6-C79C328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E291B-1846-4463-A3E0-92261257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08DC9-1BE8-4819-9752-B9E631A3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1162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16D4A-61E7-499B-AF5E-C95509B0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764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متكرر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52A56-B012-4655-85AE-104D37F4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05 الخطأ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5DDF6-5C22-45C2-8443-2E5E2E65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645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محدود بالطويل والربط متوقفة القصيرة المقاطع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4FC45-85A9-4B3D-9EE2-BDF731FB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11087-B4EC-4789-BDCB-D4CD2048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F6914-2F1B-47C4-8E48-42A9A637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90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حقيقة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4BE5C-3F11-48F0-B775-23F3277A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القصيرة. المقاطع من للفيديوهات فقط زيارة و254 مشاهدة، 1,606 يومًا: 28 في معروف. غير وعنوان ثوانٍ 5 بطول المتاحة المقاطع آخر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B92EA-D27B-4065-8A20-A2DD1BF6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F1343-A7B9-421C-9B7A-26D3EACC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استنتاج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18F38-B5A2-40BF-98E1-573A5490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جديدة. اكتشاف صيغ اختبار يمنع التوقف تالية؛ خطوة أو وعدًا أو سياقًا تمنح لا القصاصات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71897-E681-48F5-92A7-C12123DF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600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6EED9-CFEC-44FE-9633-5FA558AE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9D2E7"/>
                </a:solidFill>
              </a:defRPr>
            </a:pPr>
            <a:r>
              <a:rPr sz="1500" b="1">
                <a:solidFill>
                  <a:srgbClr val="69D2E7"/>
                </a:solidFill>
              </a:rPr>
              <a:t>النمو؟ يحدّ لماذا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032FC-59F6-4CBF-8570-5DE87DDC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منفصل. كمنتج لا له كمدخل تعمل أن يجب المقاطع المشاهدة؛ وقت من 95.9% يصنع الطويل المحتوى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00626-089B-4636-945B-FE38F4B2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825F8-C1EA-4B2C-AFCB-83E17FF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D67"/>
                </a:solidFill>
              </a:defRPr>
            </a:pPr>
            <a:r>
              <a:rPr sz="1050" b="1">
                <a:solidFill>
                  <a:srgbClr val="FF4D67"/>
                </a:solidFill>
              </a:rPr>
              <a:t>أوقف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471C9-188D-4248-9019-146C4E7C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625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إحالة. أو عنوان بلا ثوانٍ 5 مقاطع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A2AA50-4360-424D-ADF2-7369761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17B"/>
                </a:solidFill>
              </a:defRPr>
            </a:pPr>
            <a:r>
              <a:rPr sz="1050" b="1">
                <a:solidFill>
                  <a:srgbClr val="43D17B"/>
                </a:solidFill>
              </a:rPr>
              <a:t>غيّر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6F7CD-2559-474B-809A-06D31E3F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625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رئيسي. فيديو كل من ثانية 20–35 مقاطع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9FF04B-CDD5-436A-AB15-A07EFA85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المفقود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5698AF-7041-48D1-80F6-04D55680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981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وتتبع. دعوة وقالب قصاصات طابور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7C9878-1606-4C6C-9537-0F438469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59924D-F7A6-4881-9FE9-2D429833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864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CC8"/>
                </a:solidFill>
              </a:defRPr>
            </a:pPr>
            <a:r>
              <a:rPr sz="975" b="1">
                <a:solidFill>
                  <a:srgbClr val="A7BCC8"/>
                </a:solidFill>
              </a:rPr>
              <a:t>أيام 3 خلال ابدأ الموعد: • المحرر المسؤول: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15692-F672-4AD8-939E-38E7DAA3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الطويل للفيديو زيارة و≥500 أسبوعيًا مقاطع 3 النجاح: دليل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D8E5C2-BCE4-4641-96A4-43D4CAC2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4D72B8-B6AD-4251-9631-5563DACD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1082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99E3D9-F512-442E-990B-3BE3393F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DBCEB-9C91-4069-832D-9C7E88D7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78989-4003-4FE3-8E3A-694053CE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69D74-8F93-43F4-9229-963D09F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68EAB-6F39-4778-8CD2-15D2847C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تقلّص المفيد الحوار لكن ارتفعت المشاهدات 6: الخطأ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28CB2-C5CF-486E-8E71-28B6EF9E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78A2E-444B-4997-AC29-0003230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A7F14-0443-486D-88F8-166D7D88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EC4EE-57F8-4138-A728-316D97E5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1162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DC06A-6C96-4B22-90E6-9889A19D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764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جديد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C11EC-1E2A-4197-BA60-9F9E332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06 الخطأ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19615-2551-4662-A1C3-B08A82E8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645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الوصول في تغير أي من بكثير أسرع التعليقات انخفاض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55F15-DC4E-4305-9CD2-C97B6533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B7C8C-7AB8-4577-8B58-035E57B2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F7322-6EA7-478B-A9AF-6490F907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90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حقيقة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8F1ED-E72F-41C0-BF16-8D118E9A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60%. قرابة هبط التعليق معدل −55%. التعليقات لكن +119%، المشتركين وصافي +12% المشاهدات يومًا: 28 آخر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7025F-BDBB-46FE-B113-ABAEC709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9966E-FF98-4BAA-A0D8-1C8D4D5D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استنتاج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002E4-8952-42C1-BB08-192BA908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مشاهدة. لكل نوعية بيانات تتوفر لا للمشاركة؛ مساحة تترك لا أو محددًا سؤالًا تطلب لا الحالية الصياغة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EB346-2F7A-4521-BE46-28FE66CE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600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0B7FB-7E39-45B9-A0C4-DB752F7A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9D2E7"/>
                </a:solidFill>
              </a:defRPr>
            </a:pPr>
            <a:r>
              <a:rPr sz="1500" b="1">
                <a:solidFill>
                  <a:srgbClr val="69D2E7"/>
                </a:solidFill>
              </a:rPr>
              <a:t>النمو؟ يحدّ لماذا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6122E-001F-489A-9779-D26CCAD7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والمجتمع. التعلم حلقة يضعف فقدانها المؤهلين. والعملاء المحتوى، أفكار المنتج، اعتراضات تكشف التعليقات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2828F-0DE3-46B8-A954-B6AC35B2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25A7A-88B2-40A3-9D29-1E6D91C8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D67"/>
                </a:solidFill>
              </a:defRPr>
            </a:pPr>
            <a:r>
              <a:rPr sz="1050" b="1">
                <a:solidFill>
                  <a:srgbClr val="FF4D67"/>
                </a:solidFill>
              </a:rPr>
              <a:t>أوقف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EEF6B4-2535-4AE8-8A6C-BD593367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625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رأيكم؟”. “ما مثل عام ختامي سؤال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464D0-67B2-4AEF-A670-992AB6D9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17B"/>
                </a:solidFill>
              </a:defRPr>
            </a:pPr>
            <a:r>
              <a:rPr sz="1050" b="1">
                <a:solidFill>
                  <a:srgbClr val="43D17B"/>
                </a:solidFill>
              </a:rPr>
              <a:t>غيّر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39DFFE-899D-4DBF-A39A-8D3C8C6B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625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النهاية. وفي 70% عند محدد واحد سؤال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B59A1F-3B11-4E35-ABF2-19A3A35E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المفقود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3CFE2-4EDC-41F3-A22A-539091B9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981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ساعة. 24 خلال رد وزمن أسئلة بنك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407CBE-78EA-4699-9434-D7CE663C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7457E-D4AD-4214-8C84-764D9E36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864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CC8"/>
                </a:solidFill>
              </a:defRPr>
            </a:pPr>
            <a:r>
              <a:rPr sz="975" b="1">
                <a:solidFill>
                  <a:srgbClr val="A7BCC8"/>
                </a:solidFill>
              </a:rPr>
              <a:t>التالي الفيديو الموعد: • المجتمع + المقدم المسؤول: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654484-C9DA-41CE-B579-DEDB9210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مفيدًا تعليقًا و15 ≥0.25% تعليق معدل النجاح: دليل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F86751-4FD7-4574-82C1-FD95057D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CF4C93-9771-45CB-B09A-B451F43B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7381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324E3E-70A5-4FBD-8DB9-42A8489D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62396-2C42-4722-84AA-F25AF33B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9F3FA-6B4C-482A-BDA1-8E83C590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EA0B4-CA3A-4A18-A06B-228B9A10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3265B-9D2B-4813-B9E0-C1E23744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بوضوح النتيجة تعرض لا والصور العناوين بعض 7: الخطأ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E1471-1A0C-4E02-BE80-CF6066C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7F707-ECD9-41FE-AD5A-0F5423BB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328C5-6DEF-40F9-87E2-C1E16843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متوسط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B6F81-C086-4E8B-AAE0-9CAB87B8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1162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7EDD0-D974-46AA-A429-E5B23F6E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764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متكرر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3A05E-75AB-4FA1-8D6D-EAC38347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07 الخطأ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28566-A2CD-4C14-A010-602E1813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71625"/>
            <a:ext cx="645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متاحة غير المباشرة النقر نسبة ثابت؛ غير التغليف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28D8B-6A52-476F-99AA-F23569D6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3EE21-58A0-407F-BCFA-3CBD64F2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4742A-93AE-4B3E-AE7F-49779E54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90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حقيقة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74A89-7B32-4561-9265-F7918CA4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جذابة. غير المصغرة الصورة في البنية الخلفية صريح: تعليق مشاهدة. 494 عند الكوتشنق وحلقة بالاجنتس” شركة “بناء مثل عامة عناوين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72F4B-00A1-4D6F-9A43-F98A8098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FA9F3-2C75-48FE-BA3E-70690832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استنتاج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AD63C-66E9-484B-A007-87B26CE3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النقر. لانخفاض إثباتًا ليس هذا المشاهدة؛ سرعة ضعف من جزءًا يفسران قد العنوان في والنتيجة البصري الوضوح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FEF3D-00EC-4587-A12C-5DBAF8E6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3600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1C7209-D488-4DEA-9378-6D266F28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9D2E7"/>
                </a:solidFill>
              </a:defRPr>
            </a:pPr>
            <a:r>
              <a:rPr sz="1500" b="1">
                <a:solidFill>
                  <a:srgbClr val="69D2E7"/>
                </a:solidFill>
              </a:rPr>
              <a:t>النمو؟ يحدّ لماذا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F8D6C-D844-4A1B-9D68-29FC03D4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3028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جيدًا. المحتوى كان لو حتى الاختبار فرصة الفيديو يخسر ثانية، خلال النتيجة المشاهد يفهم لم إذا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8498E-098E-4CF6-A62B-3DF7DC49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1723A-970F-4BF5-B743-2A25BDA2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D67"/>
                </a:solidFill>
              </a:defRPr>
            </a:pPr>
            <a:r>
              <a:rPr sz="1050" b="1">
                <a:solidFill>
                  <a:srgbClr val="FF4D67"/>
                </a:solidFill>
              </a:rPr>
              <a:t>أوقف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A2C27-41DB-48AD-B574-8BB52B9A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625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مزدحمة. وصورة عامة وكلمات يوميات عناوين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49297-EF37-4BDE-8EE7-D1692B11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17B"/>
                </a:solidFill>
              </a:defRPr>
            </a:pPr>
            <a:r>
              <a:rPr sz="1050" b="1">
                <a:solidFill>
                  <a:srgbClr val="43D17B"/>
                </a:solidFill>
              </a:rPr>
              <a:t>غيّر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97FD7-AE90-41FE-86FE-F3122947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625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واحد. بصري عنصر + جمهور فئة + نتيجة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57803-85C4-4902-AB85-7FB8375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المفقود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EA956-7D10-4BAB-9B89-77549B74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981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مزدوج. واختبار قوالب 3 مكتبة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78BBA9-EF22-43D6-B423-3331B2E6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7B639-04B5-48A4-BF44-2BF6A4A3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864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CC8"/>
                </a:solidFill>
              </a:defRPr>
            </a:pPr>
            <a:r>
              <a:rPr sz="975" b="1">
                <a:solidFill>
                  <a:srgbClr val="A7BCC8"/>
                </a:solidFill>
              </a:rPr>
              <a:t>ساعة 72 خلال الموعد: • المحتوى قائد المسؤول: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816796-2B86-4F31-863C-78E39DDB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توفره عند +20% والنقر ≥2×؛ المشاهدة سرعة النجاح: دليل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3DEF50-9420-45CB-998E-1D8C5CCE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9364A-EEB6-4844-9EF6-387554FB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28184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4DE325-71A4-4533-8CB5-2F48D64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167C2-0C39-4A9F-B7AA-D20CC57F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33AF3-90A7-4AF6-A7CB-CBA53F5F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2F454-CA80-4DC4-AC94-4C8F3733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88614-1ED1-4F4E-A484-2B990556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السوق معيار وغياب التنفيذ جودة متوسطان: خطآن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34637-B7C0-4D78-833A-194A33F4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A3042-7512-46C5-9C15-DD742F5B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1495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CEE06-F034-4D71-93FD-75FEDA45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2405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1F6CE-2A60-4684-BFD3-3603922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9812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متوسط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B3B19-DEB7-41DB-8372-202650FA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والصورة الصوت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C5C76-1991-475E-9D84-E018C8DB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28875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39EFA-575B-4615-8109-92D08A15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860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حقيقة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4B338-169F-4870-8434-7DCD3557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الشاشة. مشاركة وطلب سيئة”، الصوت “جودة واضح”، غير “الصوت متعددة: تعليقات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A400C-7409-453F-B2E3-FD40A8E6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E9163-AB5A-4FB8-90C9-BE72790B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909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استنتاج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85B76-60D9-40FA-B6A5-DC450820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7BCC8"/>
                </a:solidFill>
              </a:defRPr>
            </a:pPr>
            <a:r>
              <a:rPr sz="1200" b="0">
                <a:solidFill>
                  <a:srgbClr val="A7BCC8"/>
                </a:solidFill>
              </a:rPr>
              <a:t>القناة. مستوى على مقاس غير لكنه والاحتفاظ، الثقة يضر قد الاتساق عدم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30B77-82C6-4A0D-B9DD-34DAF414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D17B"/>
                </a:solidFill>
              </a:defRPr>
            </a:pPr>
            <a:r>
              <a:rPr sz="1050" b="1">
                <a:solidFill>
                  <a:srgbClr val="43D17B"/>
                </a:solidFill>
              </a:rPr>
              <a:t>فيديوهات 3 في شكوى صفر القياس: • المنتج المالك: • رفع كل قبل وشاشة صوت فحص الإجراء: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5E947-FF7F-4832-8397-4A5AC155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0">
            <a:solidFill>
              <a:srgbClr val="2336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78B7D-2D3F-41A1-8EB0-09EE0228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92405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4EF1B-1B8D-48A9-9D82-90595FB2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812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متوسط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EA024-D87E-4F2A-AD56-CBBE3CB8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335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المنافسين معيار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3F15B-01D0-4735-8132-1519AAF1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28875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97C37-3E95-474C-BE01-F4C4EBE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860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حقيقة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D0A0A-8245-41A2-A4B7-65A15A6A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459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منظمة. أسبوعية مقارنة توجد لا فارغة؛ كيو آي فيد في المنافسين قائمة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4FF947-6F5F-47B9-965D-8F958A2E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F29FDE-E542-4F97-B920-A8038FE7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576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استنتاج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88FAD-039E-4FF5-B299-0C42A941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459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7BCC8"/>
                </a:solidFill>
              </a:defRPr>
            </a:pPr>
            <a:r>
              <a:rPr sz="1200" b="0">
                <a:solidFill>
                  <a:srgbClr val="A7BCC8"/>
                </a:solidFill>
              </a:rPr>
              <a:t>العربي. السوق في الناجحة والعناوين الشاذة الفيديوهات عن مبكرة إشارات تُفقد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9CCA6-114E-4650-9876-224E3090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05375"/>
            <a:ext cx="459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D2E7"/>
                </a:solidFill>
              </a:defRPr>
            </a:pPr>
            <a:r>
              <a:rPr sz="1050" b="1">
                <a:solidFill>
                  <a:srgbClr val="69D2E7"/>
                </a:solidFill>
              </a:rPr>
              <a:t>أسبوعيًا شاذة فيديوهات 3 مراجعة القياس: • أيام 7 خلال قنوات 5–8 أضف الإجراء: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20909-81A1-4993-9618-C2CE9DE7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FD339A-D7C2-46A2-A3F9-B5BDDEAA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59854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F8CE28-8647-4282-B9DD-6524AAE3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B5A59-7472-4BC7-AAA5-157C1B0B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8B650-4712-4542-B9F7-20B33344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68C43-47C7-40FC-8A33-A79C274B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D5AAF-B16C-45F7-BA5F-FE29EB04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الأخطاء تكرار تمنع أنظمة ستة القناة: ينقص ما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76A2E-D3D5-4240-833E-54BF9EB1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DD88E-8ED6-4043-B8F1-6D8A926A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53149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43830-AF6B-43CF-8821-DB567DC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واحد تحويل مسار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2F630-022F-468F-93F5-21A81ABF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الدفع اختبار + متتبعة روابط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13A7A-0DB2-4CAB-A93D-5DB80DF7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1123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4D67"/>
          </a:solidFill>
          <a:ln xmlns:a="http://schemas.openxmlformats.org/drawingml/2006/main" w="9525">
            <a:solidFill>
              <a:srgbClr val="FF4D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20D78-D466-41C0-B4ED-4690D18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حرج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1BCE6-A770-438F-B10A-C7F080EC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3149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4762C-FE90-428A-B1B0-FAFC3F11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097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داخلي ربط خريطة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1B0FB-EF04-4997-8D9E-BAB21B27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تشغيل قوائم 3 + فيديو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0CF36-5D5C-4DAC-B185-D73117B5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1123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90B89-FEF5-4CC0-A7B5-12273D6F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1F7A6-4163-41F4-9D06-3C2E6CEF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53149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E7D07-8191-42CE-B528-2A033219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افتتاح قالب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98387-9304-4C50-94EF-B9103BBE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ثانية 20 خلال دليل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EB5BA-13F4-4995-BDF0-EC4D893F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1123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0351BC-8911-4D51-A763-0AF7836B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5B74D-A77C-4939-9B86-12C00593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53149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0615BA-DEE9-414C-9876-67C1F274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908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السلسلة دليل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37198-1D65-4897-86E3-104649C7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718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تسمية وقاعدة أعمدة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EC2FA-E1E5-4D36-A6EC-84D683C7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19475"/>
            <a:ext cx="1123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313CF-DAE0-409D-BA38-AF6097C4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70294-4B15-495D-88D2-915F8D66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53149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7F531-2613-4773-A195-07285A38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القصاصات نظام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1F8B6D-AED4-4DD8-A8E8-5CB44EB6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فيديو لكل مقاطع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104B42-BB35-4839-B2F7-DEAF36C0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1123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F838B-AB51-4DBC-A873-2803AA19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عالٍ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1ADDB-39D8-4521-A83B-2031060E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3149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A426D-DBD6-434C-9C7C-CA66F0D9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أسبوعية اختبار لوحة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FC6A33-D4C7-4ADD-867D-F830C90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530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عملاء احتفاظ، نقر،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8F8D9E-5404-491C-B7B8-CD0DB4B4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1239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2CB5B-7941-479C-B42B-61D5DD17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متوسط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F5BFD8-A4DF-4F17-9574-6D7E9DA4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6CB1D5-D856-4903-B9A3-90B8A14C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453466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22D20B-5E46-4183-B65F-66DE2D98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B69F0-8AD2-425B-9248-A34615DB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AD61E-A078-47BB-8AE6-F5BC018B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94246-5AB6-4C51-88E9-00BA74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68B41-A388-4FFF-A2AE-CF5787CC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أولًا أثرًا الأعلى نفّذ — الفيديوهات إصلاح قائمة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2EFAF-F1D3-425A-8723-6359FC84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143EE-D9AC-4C92-A575-A04FED7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D8205-DF5D-4E6F-B2CB-7F9921F0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الفيديو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C4045-A7B9-4A1F-800C-E4FBF917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14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المشكلة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4F698-181B-49F1-9D11-732B4C0F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الإصلاح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EE509-FFE2-4594-A7FC-4E089145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القياس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5EF30-56BD-4F01-A2AD-2C8629F0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6BBAF-0E94-4B8A-B1F6-FA99DDE2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كلود كورس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C45F9-7424-44D5-9265-88B0EF0E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دقيقة أول هبوط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8D871-1E51-43C6-ABAD-F8C74E7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نهاية شاشة + فصول + المقدمة قص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69A94-7CB0-4888-8F6E-14D4CFD2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نهاية / احتفاظ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F10D8-BF6A-4AA6-97E6-30005822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0C24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56DBF-D140-416F-95FC-A3FE22A3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670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ذكي وكيل أول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776CD-835D-46B9-95E3-D5B07057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67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الطلب رغم تعليقات لا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A386E-3546-4911-AF10-D8E9F30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تالٍ ورابط دعوة + عملي سؤال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178A7-83B9-4FEF-88A0-D7E498CD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عملاء / تعليقات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783E0-FB5D-491B-B5A9-96170FF1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9DC45-0F52-4ABE-B481-CB1CD459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الكوتشنق مكالمة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0C6A9-6972-481A-B827-C1B491D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48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وغامض يومي عنوان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C2F04-4744-4064-9A06-C05A4756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جديدة صورة + واضحة نتيجة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7F43B-F9BC-45E1-8BA1-68B71EAC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المشاهدة سرعة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74543-23FD-4C76-B612-DED4C593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0C243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4FAD4-07AE-4D6E-AFF4-A2803D2C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29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كلود استعمال وقف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6E9F5-99F5-416D-A040-08B263B4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290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نتيجة بلا العنوان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2AE853-1F7B-478F-9742-25F493B3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29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صورة واختبار نتيجة أضف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D52547-CF0D-4BE6-9A4F-640E6733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نقر / سرعة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080D3-7766-4332-9E70-332338AE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B5CF4D-8FF4-4E93-AE35-E009CA49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0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الشركة بناء سلسلة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3A145F-3DFE-4317-9DB7-1026076D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10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وحدها تقف لا حلقات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1E715A-10C8-42B5-B0C3-69EBF2F1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قائمة + حلقات 3 تسمية أعد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A9E58C-610A-4154-B9D8-E407D41F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المقترحات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4578F8-74A6-4AF4-A3F7-F3769996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C2432"/>
          </a:solidFill>
          <a:ln xmlns:a="http://schemas.openxmlformats.org/drawingml/2006/main" w="9525">
            <a:solidFill>
              <a:srgbClr val="0C24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DA072D-6EE9-4490-AD93-D4206B17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91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تي بي جي شات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5D8B59-B296-4857-95AB-4893E67D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9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احتفاظ بيانات بلا جديد زخم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D1CAE5-A4FF-4DCA-A5F3-874DA998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مبكر حكم دون وراقب الدعوة ثبّت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B96FD6-B54C-4B0A-B0B5-A1D4E61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عملاء / ساعة 48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6277AA-0633-42F7-B895-DFAF2A64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</a:defRPr>
            </a:pPr>
            <a:r>
              <a:rPr sz="1200" b="1">
                <a:solidFill>
                  <a:srgbClr val="FFD166"/>
                </a:solidFill>
              </a:rPr>
              <a:t>مثبت. وتعليق بروابط ادعمه الاحتفاظ؛ ظهور قبل جذريًا الجديد الفيديو تغيّر لا الأولوية: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CAD9D2-357B-45F8-84D5-D9CD5072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073FE2-F5AC-4466-866A-449FB088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995766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680A0B-4D9A-48DE-847F-165C81BA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1C893-51AE-43E3-959E-307081B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0391-9492-4AD6-8480-5BDCA250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B21F3-076B-49D8-BB4E-951F22EE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2731A-8EF1-4E4D-9325-662BC063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واستمر ابدأ، أوقف،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927F5-7933-427C-AD4D-9538C55D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5548F-ECD2-4214-B953-678EA563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76600" cy="3714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BD5B0-E689-4A1B-9B09-3A117E2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4D67"/>
                </a:solidFill>
              </a:defRPr>
            </a:pPr>
            <a:r>
              <a:rPr sz="2100" b="1">
                <a:solidFill>
                  <a:srgbClr val="FF4D67"/>
                </a:solidFill>
              </a:rPr>
              <a:t>أوقف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AE6A3-56DA-4C0F-8414-04627455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E631A-A4AB-4EBF-A020-24A02A95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الفيديو في الدعوات تعدد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EFA5C-6320-4E7E-A2BB-D531002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FDD96-2026-4A3C-8841-15078C3F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الدليل قبل المقدمة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06AB9-5405-4369-B3A7-F12FE116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7EC64-E654-4253-827E-EA0600EF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العامة الحلقة عنوان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8C7BD-EEDF-435E-8BFD-FBDD8844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57E2E-E416-40A9-9858-B6101655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سياق بلا قصير مقطع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BB9DD-81DE-45DC-B136-1C5C987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62125"/>
            <a:ext cx="3276600" cy="3714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2A683-D126-4F07-8BC6-D41BA7CE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9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3D17B"/>
                </a:solidFill>
              </a:defRPr>
            </a:pPr>
            <a:r>
              <a:rPr sz="2100" b="1">
                <a:solidFill>
                  <a:srgbClr val="43D17B"/>
                </a:solidFill>
              </a:rPr>
              <a:t>ابدأ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00A12-548F-41BD-B7A4-6D40922B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62C43-85D9-4874-AE47-E14955EB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أسبوعيًا الدفع فحص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4E289-2E9E-4A49-9E7F-D3306608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72C09-46A8-449F-8C12-D7C3ED5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فيديو 15 ربط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60088-DB9C-429F-8956-CF2834F0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B1760-975B-4872-94EC-75A2E246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محدد تعليق سؤال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99F98-A990-4528-8681-B1A2D8F9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0D3213-AE18-4EF8-940C-0CB2E1D5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529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للفيديو قصاصات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687050-ADD4-49EA-8433-E2B73C12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76600" cy="3714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2B955-00D5-45BD-AA10-67EDF0F9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D2E7"/>
                </a:solidFill>
              </a:defRPr>
            </a:pPr>
            <a:r>
              <a:rPr sz="2100" b="1">
                <a:solidFill>
                  <a:srgbClr val="69D2E7"/>
                </a:solidFill>
              </a:rPr>
              <a:t>استمر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E3B79C-3E4C-4244-A0CB-BDD9B472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F5737-6077-433A-BC4A-15D58707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الأذكياء والوكلاء كلود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AED800-937F-485F-B8F2-34C119C0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0E4C09-84D9-4171-8CF0-23705EB8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بخطوة خطوة شروحات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9331E7-4895-46D9-92E6-63D3A026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097BC4-297D-4926-8837-28B0D5E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حقيقية رقمية نتائج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A31BF6-741E-4A41-869E-B91B64FB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7EA740-584C-4A7A-9EE7-0CE61125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529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تي بي جي شات فيديو دعم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392230-48C0-4872-B652-28CAA68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DE432C-3D73-4C1C-BA52-2F150294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465984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DE3E83-96F9-4263-A495-52678EBF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68294-96AF-4588-82D2-4D10DB88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06246-A362-428B-8D6A-0020345E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CB91D-977B-494F-A08B-4F7D6D0E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D9D4A-5EE8-4C12-A775-CCB9BBCC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ونتيجة وموعد مالك — أيام سبعة إصلاح خطة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B93B5-FF25-49DF-8147-82AE9E31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4FA88-8632-4971-88F9-E201A31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571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1 اليوم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61B86-361F-46C6-9556-2E205244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الدعوة وتوحيد والتواصل الدفع صفحات كل اختبار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23E83-7141-4755-A148-E7A251B4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9D58C-41F2-4A9B-AEA8-4BB54B7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النمو مسؤول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12EB1-EB4A-496F-A593-1C87ABC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256F0-A34D-483E-BA3D-947798FC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19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2 اليوم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AF64D-8FDB-4B46-B55F-E379834E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193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فيديو 15 لأفضل والتعليقات النهاية شاشات تحديث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77FE8-554D-43C3-B439-0CA1AF49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735C"/>
          </a:solidFill>
          <a:ln xmlns:a="http://schemas.openxmlformats.org/drawingml/2006/main" w="9525">
            <a:solidFill>
              <a:srgbClr val="FF73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29C84-4A5E-4AE5-9542-534657D9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1F"/>
                </a:solidFill>
              </a:defRPr>
            </a:pPr>
            <a:r>
              <a:rPr sz="900" b="1">
                <a:solidFill>
                  <a:srgbClr val="07141F"/>
                </a:solidFill>
              </a:rPr>
              <a:t>القناة عمليات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666DF-07BD-48CC-BC2B-E69C68F2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6340A-A63B-4100-90A7-5F60E6FF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67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3 اليوم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479F4-92DB-4FFF-9A15-0AF0A1D1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تالٍ وانتقال فصول وإضافة كلود مقدمة قص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DF648-A387-41F0-AF76-9CB1BECC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E6A27-F61B-478E-9947-874B1B7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المحرر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995C3-7F39-4E47-AC69-33A9BECC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6BC7D-AC79-4418-AF53-3257D2CE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147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4 اليوم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750E2-C3A2-43E2-B7AC-8FCD29C9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ضعيفة فيديوهات 3 وصورة عنوان إعادة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4C5B4-655D-493C-BAFB-C8FB8B06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F1B71-8373-42EF-8CE9-40A38A08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المحتوى قائد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2B091-5BC3-497C-A80E-479FAB7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D9CD9C-B099-4AC3-88CF-CDCA5391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624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5 اليوم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11B1CC-7A12-4950-B535-9151FE8F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624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المشاهد وظيفة حسب تشغيل قوائم 3 بناء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85A35-13EF-4FA8-BB81-4F38C040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BCA47B-51B6-47B7-B759-F15721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القناة عمليات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D75F95-C6DF-4EBB-A3B9-E8E90768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A4259C-D3D6-4636-8DA6-1029F964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6 اليوم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D9E98D-D96A-4006-99A1-1659B21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تي بي جي شات بفيديو مرتبطة مقاطع 3 إنتاج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1CAEE8-7BD3-4FF7-BAB1-75E8472B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0ACE45-00F2-4860-AB09-E6BAEAD1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المحرر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6D2CFB-BA47-4FC1-BC11-C57EA779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016FFB-3A60-4C62-81F2-ED1509FC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4578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9D2E7"/>
                </a:solidFill>
              </a:defRPr>
            </a:pPr>
            <a:r>
              <a:rPr sz="1200" b="1">
                <a:solidFill>
                  <a:srgbClr val="69D2E7"/>
                </a:solidFill>
              </a:rPr>
              <a:t>7 اليوم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64D928-4708-473A-A039-9CCE758E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578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التعلم وتوثيق والسرعة والاحتفاظ العملاء مراجعة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12F3A5-7AA6-492C-ACE8-521FE715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46DA40-085A-4940-8149-43C5F4EB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النمو مسؤول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5E2D96-E385-4CD5-B740-DF26AB2D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0325A7-EFBC-404F-9D22-A0A072B4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389431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F6CB0F-70E3-4D8C-AD78-46ADEBDE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solidFill>
              <a:srgbClr val="69D2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C9EEE-399A-44A5-BB38-FD8D60EF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1F"/>
                </a:solidFill>
              </a:defRPr>
            </a:pPr>
            <a:r>
              <a:rPr sz="1125" b="1">
                <a:solidFill>
                  <a:srgbClr val="07141F"/>
                </a:solidFill>
              </a:rPr>
              <a:t>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8A6F2-912A-4012-8ACA-38D6F61C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CC8"/>
                </a:solidFill>
              </a:defRPr>
            </a:pPr>
            <a:r>
              <a:rPr sz="900" b="1">
                <a:solidFill>
                  <a:srgbClr val="A7BCC8"/>
                </a:solidFill>
              </a:rPr>
              <a:t>الكلثمي أسامة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151A1-3527-4E5B-A5B8-AEADEB6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9D2E7"/>
                </a:solidFill>
              </a:defRPr>
            </a:pPr>
            <a:r>
              <a:rPr sz="975" b="1">
                <a:solidFill>
                  <a:srgbClr val="69D2E7"/>
                </a:solidFill>
              </a:rPr>
              <a:t>الأسبوعي النمو أخطاء تدقيق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72FFD-7500-441D-AB11-577F09D7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القادم للتدقيق القياس بطاقة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7DBA0-5307-4B79-A6DD-1C078915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81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C297D-4CBC-41E3-B4E7-16F2DD75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3D509-D8ED-44CD-A731-36E87615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43D17B"/>
                </a:solidFill>
              </a:defRPr>
            </a:pPr>
            <a:r>
              <a:rPr sz="2400" b="1">
                <a:solidFill>
                  <a:srgbClr val="43D17B"/>
                </a:solidFill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3F0D3-244C-4577-8362-02C8DA00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تعمل الدفع روابط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40498-4C88-45A2-821F-27A7F112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703BD-87CD-45A3-85C1-78E369DF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669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69D2E7"/>
                </a:solidFill>
              </a:defRPr>
            </a:pPr>
            <a:r>
              <a:rPr sz="2400" b="1">
                <a:solidFill>
                  <a:srgbClr val="69D2E7"/>
                </a:solidFill>
              </a:rPr>
              <a:t>≥250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4A97B-8249-4E30-8298-E0D5BC9D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النهاية شاشات من مشاهدة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62591-6D0A-40CC-B026-C9345EFB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9C192-AFB5-4A1F-9311-DD8DD8BB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69D2E7"/>
                </a:solidFill>
              </a:defRPr>
            </a:pPr>
            <a:r>
              <a:rPr sz="2400" b="1">
                <a:solidFill>
                  <a:srgbClr val="69D2E7"/>
                </a:solidFill>
              </a:rPr>
              <a:t>≥15%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641F2-6720-4AF4-A3E4-02791173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المقترحة الفيديوهات حصة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DCFDE-AE22-41A2-9EFF-CBA7C16B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48556-2654-4B5F-8424-478C8201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D166"/>
                </a:solidFill>
              </a:defRPr>
            </a:pPr>
            <a:r>
              <a:rPr sz="2400" b="1">
                <a:solidFill>
                  <a:srgbClr val="FFD166"/>
                </a:solidFill>
              </a:rPr>
              <a:t>≥0.25%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367AB-8CC8-4669-B0DB-5EB91753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التعليقات معدل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C7328-94E4-42D5-A185-CF84470D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FA585-308C-4CB4-A85F-3E2DEC5B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43D17B"/>
                </a:solidFill>
              </a:defRPr>
            </a:pPr>
            <a:r>
              <a:rPr sz="2400" b="1">
                <a:solidFill>
                  <a:srgbClr val="43D17B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F5AE7-5056-4BCC-AA67-15E6AEF3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24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مرتبطة قصيرة مقاطع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2B5FF-D515-4FBD-ACD8-F1530B5E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3238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33642"/>
          </a:solidFill>
          <a:ln xmlns:a="http://schemas.openxmlformats.org/drawingml/2006/main" w="9525">
            <a:solidFill>
              <a:srgbClr val="2336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E91730-AA74-43BF-8214-3E90EC34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909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F735C"/>
                </a:solidFill>
              </a:defRPr>
            </a:pPr>
            <a:r>
              <a:rPr sz="2400" b="1">
                <a:solidFill>
                  <a:srgbClr val="FF735C"/>
                </a:solidFill>
              </a:rPr>
              <a:t>≥5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EBF56-320B-4C10-84F0-EFA319E6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24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BCC8"/>
                </a:solidFill>
              </a:defRPr>
            </a:pPr>
            <a:r>
              <a:rPr sz="1050" b="0">
                <a:solidFill>
                  <a:srgbClr val="A7BCC8"/>
                </a:solidFill>
              </a:rPr>
              <a:t>مؤهلون عملاء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C7F31-B7DD-4D87-9EEE-6DC0B931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69D2E7"/>
          </a:solidFill>
          <a:ln xmlns:a="http://schemas.openxmlformats.org/drawingml/2006/main" w="9525">
            <a:solidFill>
              <a:srgbClr val="69D2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7959F-8807-4B46-9106-B1AA1A3A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959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1F"/>
                </a:solidFill>
              </a:defRPr>
            </a:pPr>
            <a:r>
              <a:rPr sz="1575" b="1">
                <a:solidFill>
                  <a:srgbClr val="07141F"/>
                </a:solidFill>
              </a:rPr>
              <a:t>جديد. إنتاج حجم إضافة قبل والربط التحويل أصلح الأسبوع: قرار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B1D06B-412A-4359-8163-E0869B56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7BCC8"/>
                </a:solidFill>
              </a:defRPr>
            </a:pPr>
            <a:r>
              <a:rPr sz="1125" b="0">
                <a:solidFill>
                  <a:srgbClr val="A7BCC8"/>
                </a:solidFill>
              </a:rPr>
              <a:t>البيانات. اكتمال عند تي بي جي شات لفيديو النقر ونسبة الاحتفاظ فقط: مراقبة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326AF-875A-47F4-9910-B9601E0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CC8"/>
                </a:solidFill>
              </a:defRPr>
            </a:pPr>
            <a:r>
              <a:rPr sz="750" b="0">
                <a:solidFill>
                  <a:srgbClr val="A7BCC8"/>
                </a:solidFill>
              </a:rPr>
              <a:t>سبتمبر 3 حتى التحليلات بيانات • 2026 سبتمبر 6 في المنتهي الأسبوع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9CFD9-2E35-4CAF-AAE8-07B0095A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BCC8"/>
                </a:solidFill>
              </a:defRPr>
            </a:pPr>
            <a:r>
              <a:rPr sz="825" b="1">
                <a:solidFill>
                  <a:srgbClr val="A7BCC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68252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2026-09-06T07:16:32.9380000Z</dcterms:created>
  <dcterms:modified xsi:type="dcterms:W3CDTF">2026-09-06T07:16:32.9380000Z</dcterms:modified>
</coreProperties>
</file>